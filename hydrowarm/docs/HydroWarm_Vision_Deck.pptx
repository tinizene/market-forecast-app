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4A"/>
                </a:solidFill>
                <a:latin typeface="Arial"/>
              </a:rPr>
              <a:t>Revenue vs. net profit by channel strategy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(€)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€#,##0,K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2646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Direct</c:v>
                  </c:pt>
                  <c:pt idx="1">
                    <c:v>All Partners</c:v>
                  </c:pt>
                  <c:pt idx="2">
                    <c:v>Mixed 50/50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1460000</c:v>
                </c:pt>
                <c:pt idx="1">
                  <c:v>380000</c:v>
                </c:pt>
                <c:pt idx="2">
                  <c:v>920000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(€)</c:v>
                </c:pt>
              </c:strCache>
            </c:strRef>
          </c:tx>
          <c:spPr>
            <a:solidFill>
              <a:srgbClr val="C9531F"/>
            </a:solidFill>
            <a:effectLst/>
          </c:spPr>
          <c:invertIfNegative val="0"/>
          <c:dLbls>
            <c:numFmt formatCode="€#,##0,K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2646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Direct</c:v>
                  </c:pt>
                  <c:pt idx="1">
                    <c:v>All Partners</c:v>
                  </c:pt>
                  <c:pt idx="2">
                    <c:v>Mixed 50/50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990000</c:v>
                </c:pt>
                <c:pt idx="1">
                  <c:v>50000</c:v>
                </c:pt>
                <c:pt idx="2">
                  <c:v>520000</c:v>
                </c:pt>
              </c:numCache>
            </c:numRef>
          </c:val>
        </c:ser>
        <c:dLbls>
          <c:numFmt formatCode="€#,##0,K" sourceLinked="0"/>
          <c:txPr>
            <a:bodyPr/>
            <a:lstStyle/>
            <a:p>
              <a:pPr>
                <a:defRPr b="0" i="0" strike="noStrike" sz="900" u="none">
                  <a:solidFill>
                    <a:srgbClr val="52646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4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6E4"/>
              </a:solidFill>
              <a:prstDash val="solid"/>
              <a:round/>
            </a:ln>
          </c:spPr>
        </c:majorGridlines>
        <c:numFmt formatCode="€#,##0,,M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4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2646D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914400" cy="804672"/>
          </a:xfrm>
          <a:prstGeom prst="hexagon">
            <a:avLst/>
          </a:prstGeom>
          <a:solidFill>
            <a:srgbClr val="1F3A54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206240"/>
            <a:ext cx="640080" cy="563270"/>
          </a:xfrm>
          <a:prstGeom prst="hexagon">
            <a:avLst/>
          </a:prstGeom>
          <a:solidFill>
            <a:srgbClr val="1F3A54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5577840"/>
            <a:ext cx="594360" cy="523037"/>
          </a:xfrm>
          <a:prstGeom prst="hexagon">
            <a:avLst/>
          </a:prstGeom>
          <a:solidFill>
            <a:srgbClr val="1F3A54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5212080"/>
            <a:ext cx="502920" cy="442570"/>
          </a:xfrm>
          <a:prstGeom prst="hexagon">
            <a:avLst/>
          </a:prstGeom>
          <a:solidFill>
            <a:srgbClr val="1F3A54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34440"/>
            <a:ext cx="777240" cy="683971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7" name="Image 0" descr="/tmp/claude-0/-home-user-market-forecast-app/a258a7f7-d198-5159-8738-6f7076765cde/scratchpad/pptxgen/icons/droplet_B876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69" y="1288847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66928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the person. </a:t>
            </a:r>
            <a:pPr indent="0" marL="0">
              <a:buNone/>
            </a:pPr>
            <a:r>
              <a:rPr lang="en-US" sz="22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room.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vision for where HydroWarm goes next — for my co-developer and TU Delft Industrial Design partner.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LEKKERKERK, NETHERLANDS  ·  JULY 2026  · 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2022. Cold feet, working alone at a desk in Lekkerkerk.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0280"/>
            <a:ext cx="658368" cy="579364"/>
          </a:xfrm>
          <a:prstGeom prst="hexagon">
            <a:avLst/>
          </a:prstGeom>
          <a:solidFill>
            <a:srgbClr val="EAF1F0"/>
          </a:solidFill>
          <a:ln/>
        </p:spPr>
      </p:sp>
      <p:pic>
        <p:nvPicPr>
          <p:cNvPr id="6" name="Image 0" descr="/tmp/claude-0/-home-user-market-forecast-app/a258a7f7-d198-5159-8738-6f7076765cde/scratchpad/pptxgen/icons/home_1A6B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276" y="228636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hot water bottle under cold feet, a blanket over the lap. It worked perfectly — natural warmth, no electricity, no noise.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4526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for a product built specifically for this turned up nothing — not one hot water foot warmer designed for the home office, anywhere in the EU market.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87452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1A2E4A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240280"/>
            <a:ext cx="658368" cy="579364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12" name="Image 1" descr="/tmp/claude-0/-home-user-market-forecast-app/a258a7f7-d198-5159-8738-6f7076765cde/scratchpad/pptxgen/icons/compass_B876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108" y="2286366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became HydroWarm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46520" y="3474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co-inventors: me, and a TU Delft Industrial Design graduate friend who joined as co-developer — branding and commercialisation expertise, and access to TU Delft's student project network for CAD and prototyping.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48006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 hasn't moved since: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46520" y="51389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the person. Not the room.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existing option fails a different way.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86000"/>
            <a:ext cx="658368" cy="579364"/>
          </a:xfrm>
          <a:prstGeom prst="hexagon">
            <a:avLst/>
          </a:prstGeom>
          <a:solidFill>
            <a:srgbClr val="FBECE6"/>
          </a:solidFill>
          <a:ln/>
        </p:spPr>
      </p:sp>
      <p:pic>
        <p:nvPicPr>
          <p:cNvPr id="6" name="Image 0" descr="/tmp/claude-0/-home-user-market-forecast-app/a258a7f7-d198-5159-8738-6f7076765cde/scratchpad/pptxgen/icons/zap_C953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556" y="233208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31089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foot warmers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86968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Corded, resistive-wire heat — an overheat risk, and you're tethered to the wall.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88536" y="19659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2286000"/>
            <a:ext cx="658368" cy="579364"/>
          </a:xfrm>
          <a:prstGeom prst="hexagon">
            <a:avLst/>
          </a:prstGeom>
          <a:solidFill>
            <a:srgbClr val="FBECE6"/>
          </a:solidFill>
          <a:ln/>
        </p:spPr>
      </p:sp>
      <p:pic>
        <p:nvPicPr>
          <p:cNvPr id="11" name="Image 1" descr="/tmp/claude-0/-home-user-market-forecast-app/a258a7f7-d198-5159-8738-6f7076765cde/scratchpad/pptxgen/icons/clock_C95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164" y="2332086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31089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Cherry-pit warmers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08576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 minutes of warmth, then cold — up to 16 microwave trips across an 8-hour working day.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9659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286000"/>
            <a:ext cx="658368" cy="579364"/>
          </a:xfrm>
          <a:prstGeom prst="hexagon">
            <a:avLst/>
          </a:prstGeom>
          <a:solidFill>
            <a:srgbClr val="FBECE6"/>
          </a:solidFill>
          <a:ln/>
        </p:spPr>
      </p:sp>
      <p:pic>
        <p:nvPicPr>
          <p:cNvPr id="16" name="Image 2" descr="/tmp/claude-0/-home-user-market-forecast-app/a258a7f7-d198-5159-8738-6f7076765cde/scratchpad/pptxgen/icons/dollar_C953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72" y="233208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31089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Heated smart shoes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30184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200+ for embedded electronics most desk workers don't need — a gadget, not a comfort product.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6928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4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of them is designed to sit at a desk all day. HydroWarm is.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777240" cy="683971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3" name="Image 0" descr="/tmp/claude-0/-home-user-market-forecast-app/a258a7f7-d198-5159-8738-6f7076765cde/scratchpad/pptxgen/icons/target_B876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69" y="1426007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the person.
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room.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4617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an entire room to warm one pair of feet is wasteful — of energy, and of money. HydroWarm puts the warmth exactly where the body needs it, so the room doesn't have to work at all. That's the sustainability story, and it's also just a better product.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FAMILY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tiers, one deliberate launch order.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proves the core technology first. Charge adds precision once the foundation holds. Boot — the original idea — arrives last, once its hot-water certification is worked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35808" y="2286000"/>
            <a:ext cx="594360" cy="523037"/>
          </a:xfrm>
          <a:prstGeom prst="hexagon">
            <a:avLst/>
          </a:prstGeom>
          <a:solidFill>
            <a:srgbClr val="EAF1F0"/>
          </a:solidFill>
          <a:ln/>
        </p:spPr>
      </p:sp>
      <p:pic>
        <p:nvPicPr>
          <p:cNvPr id="8" name="Image 0" descr="/tmp/claude-0/-home-user-market-forecast-app/a258a7f7-d198-5159-8738-6f7076765cde/scratchpad/pptxgen/icons/droplet_1A6B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3075" y="2327605"/>
            <a:ext cx="439826" cy="439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86968" y="3364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FIRST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86968" y="37490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Single-zone PCM cartridge + induction plate. Simplest build, proves the core tech.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86968" y="5257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€34–39</a:t>
            </a:r>
            <a:endParaRPr lang="en-US" sz="1800" dirty="0"/>
          </a:p>
        </p:txBody>
      </p:sp>
      <p:pic>
        <p:nvPicPr>
          <p:cNvPr id="13" name="Image 1" descr="/tmp/claude-0/-home-user-market-forecast-app/a258a7f7-d198-5159-8738-6f7076765cde/scratchpad/pptxgen/icons/arrowRight_1A6B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3931920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88536" y="21031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08576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757416" y="2286000"/>
            <a:ext cx="594360" cy="523037"/>
          </a:xfrm>
          <a:prstGeom prst="hexagon">
            <a:avLst/>
          </a:prstGeom>
          <a:solidFill>
            <a:srgbClr val="EAF1F0"/>
          </a:solidFill>
          <a:ln/>
        </p:spPr>
      </p:sp>
      <p:pic>
        <p:nvPicPr>
          <p:cNvPr id="17" name="Image 2" descr="/tmp/claude-0/-home-user-market-forecast-app/a258a7f7-d198-5159-8738-6f7076765cde/scratchpad/pptxgen/icons/zap_B8760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683" y="2327605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08576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4608576" y="3364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1–2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608576" y="37490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Dual-zone, magnetic-click cartridges, aluminium frame. The premium tier.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608576" y="5257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€59 / €69</a:t>
            </a:r>
            <a:endParaRPr lang="en-US" sz="1800" dirty="0"/>
          </a:p>
        </p:txBody>
      </p:sp>
      <p:pic>
        <p:nvPicPr>
          <p:cNvPr id="22" name="Image 3" descr="/tmp/claude-0/-home-user-market-forecast-app/a258a7f7-d198-5159-8738-6f7076765cde/scratchpad/pptxgen/icons/arrowRight_1A6B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3931920"/>
            <a:ext cx="256032" cy="25603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010144" y="21031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8330184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10479024" y="2286000"/>
            <a:ext cx="594360" cy="523037"/>
          </a:xfrm>
          <a:prstGeom prst="hexagon">
            <a:avLst/>
          </a:prstGeom>
          <a:solidFill>
            <a:srgbClr val="EAF1F0"/>
          </a:solidFill>
          <a:ln/>
        </p:spPr>
      </p:sp>
      <p:pic>
        <p:nvPicPr>
          <p:cNvPr id="26" name="Image 4" descr="/tmp/claude-0/-home-user-market-forecast-app/a258a7f7-d198-5159-8738-6f7076765cde/scratchpad/pptxgen/icons/shield_C9531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6291" y="2327605"/>
            <a:ext cx="439826" cy="439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30184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8330184" y="3364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2–3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330184" y="37490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water + the original Arch-Hex Grid sole. The flagship, engineered properly.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8330184" y="5257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€39 / €54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1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Comfort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HW-COMFORT-SYS · LAUNCHING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286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single-zone PCM gel cartridge sits in a ribbed polypropylene tray, recharged by an induction plate under the desk. No cords to the foot, no resistive element — the phase-change gel self-limits its own temperature.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8408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Cartridge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44368" y="3794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zone, heel to toe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4233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Velcro flap, grey minky fabric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44368" y="4672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38–40°C, self-regulating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5111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44368" y="511149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2-pack, €9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50608" y="1965960"/>
            <a:ext cx="4474159" cy="4160520"/>
          </a:xfrm>
          <a:prstGeom prst="roundRect">
            <a:avLst>
              <a:gd name="adj" fmla="val 1758"/>
            </a:avLst>
          </a:prstGeom>
          <a:solidFill>
            <a:srgbClr val="1A2E4A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84768" y="2423160"/>
            <a:ext cx="1005840" cy="885139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17" name="Image 0" descr="/tmp/claude-0/-home-user-market-forecast-app/a258a7f7-d198-5159-8738-6f7076765cde/scratchpad/pptxgen/icons/droplet_1A6B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527" y="2493569"/>
            <a:ext cx="744322" cy="74432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50608" y="3703320"/>
            <a:ext cx="44741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€34–39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150608" y="429768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price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01888" y="4800600"/>
            <a:ext cx="137160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50608" y="4983480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5–7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50608" y="534924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window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2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Charge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HW-CHARGE-SGL/DBL-SYS · YEAR 1–2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286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Dual-zone cartridges click into an aluminium frame by neodymium magnet — tool-free, satisfying, precise. A translucent brand window lets the warm amber gel show through as it heats.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8408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44368" y="3794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heel + toe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4233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Aluminium 6061, load + heat path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44368" y="4672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click, 3–5N engage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5111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44368" y="511149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4-pack, €19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50608" y="1965960"/>
            <a:ext cx="4474159" cy="4160520"/>
          </a:xfrm>
          <a:prstGeom prst="roundRect">
            <a:avLst>
              <a:gd name="adj" fmla="val 1758"/>
            </a:avLst>
          </a:prstGeom>
          <a:solidFill>
            <a:srgbClr val="1A2E4A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84768" y="2423160"/>
            <a:ext cx="1005840" cy="885139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17" name="Image 0" descr="/tmp/claude-0/-home-user-market-forecast-app/a258a7f7-d198-5159-8738-6f7076765cde/scratchpad/pptxgen/icons/zap_B876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527" y="2493569"/>
            <a:ext cx="744322" cy="74432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50608" y="3703320"/>
            <a:ext cx="44741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€59 / €69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150608" y="429768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price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01888" y="4800600"/>
            <a:ext cx="137160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50608" y="4983480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/ Double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50608" y="534924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window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3 OF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Boot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HW-BOOT-001/002 · YEAR 2–3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286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that started HydroWarm, engineered properly: hot water held over an original Arch-Hex Grid sole that keeps the channel open under standing load. Pro adds a side zip for mobility-limited users.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8408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44368" y="3794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Arch-Hex Grid, food-grade 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rating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4233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to 150kg standing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44368" y="4672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Sherpa fleece + TPR bladder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5111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44368" y="511149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1 — filing in progress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50608" y="1965960"/>
            <a:ext cx="4474159" cy="4160520"/>
          </a:xfrm>
          <a:prstGeom prst="roundRect">
            <a:avLst>
              <a:gd name="adj" fmla="val 1758"/>
            </a:avLst>
          </a:prstGeom>
          <a:solidFill>
            <a:srgbClr val="1A2E4A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84768" y="2423160"/>
            <a:ext cx="1005840" cy="885139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17" name="Image 0" descr="/tmp/claude-0/-home-user-market-forecast-app/a258a7f7-d198-5159-8738-6f7076765cde/scratchpad/pptxgen/icons/shield_C953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527" y="2493569"/>
            <a:ext cx="744322" cy="74432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50608" y="3703320"/>
            <a:ext cx="44741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€39 / €54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150608" y="429768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price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01888" y="4800600"/>
            <a:ext cx="137160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50608" y="4983480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/ Pro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50608" y="534924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window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desk-warming market, honestly compared.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1A2E4A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31720"/>
            <a:ext cx="658368" cy="579364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6" name="Image 0" descr="/tmp/claude-0/-home-user-market-forecast-app/a258a7f7-d198-5159-8738-6f7076765cde/scratchpad/pptxgen/icons/clock_B876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276" y="237780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12–16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32688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microwave trips a cherry-pit warmer needs across one 8-hour working day.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5029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eliminates every one of them.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10328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19288" y="1874520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10328" y="2057400"/>
            <a:ext cx="6714439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84648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Beurer FW20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84648" y="2496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€35–45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19288" y="2313432"/>
            <a:ext cx="3331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Corded, overheat risk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910328" y="3017520"/>
            <a:ext cx="6714439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84648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Medisana FWS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84648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€30–40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019288" y="3273552"/>
            <a:ext cx="3331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Reviewers: barely warm enough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910328" y="3977640"/>
            <a:ext cx="6714439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184648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Decathlon Bouillotte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184648" y="4416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€29.99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019288" y="4233672"/>
            <a:ext cx="3331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12–16 microwave trips / day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910328" y="4937760"/>
            <a:ext cx="6714439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184648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Digitsole heated shoe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84648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$200+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019288" y="5193792"/>
            <a:ext cx="3331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tech, wrong product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to Year 3, in five moves.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00805" y="1764792"/>
            <a:ext cx="182880" cy="182880"/>
          </a:xfrm>
          <a:prstGeom prst="ellipse">
            <a:avLst/>
          </a:prstGeom>
          <a:solidFill>
            <a:srgbClr val="1A6B8A"/>
          </a:solidFill>
          <a:ln w="25400">
            <a:solidFill>
              <a:srgbClr val="F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83685" y="1856232"/>
            <a:ext cx="2068921" cy="0"/>
          </a:xfrm>
          <a:prstGeom prst="line">
            <a:avLst/>
          </a:prstGeom>
          <a:noFill/>
          <a:ln w="19050">
            <a:solidFill>
              <a:srgbClr val="DC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48840"/>
            <a:ext cx="2050633" cy="352044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313432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1721449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both patents, register KVK, apply for the Qredits loan.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52606" y="1764792"/>
            <a:ext cx="182880" cy="182880"/>
          </a:xfrm>
          <a:prstGeom prst="ellipse">
            <a:avLst/>
          </a:prstGeom>
          <a:solidFill>
            <a:srgbClr val="1A6B8A"/>
          </a:solidFill>
          <a:ln w="25400">
            <a:solidFill>
              <a:srgbClr val="F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5486" y="1856232"/>
            <a:ext cx="2068921" cy="0"/>
          </a:xfrm>
          <a:prstGeom prst="line">
            <a:avLst/>
          </a:prstGeom>
          <a:noFill/>
          <a:ln w="19050">
            <a:solidFill>
              <a:srgbClr val="DCE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8729" y="2148840"/>
            <a:ext cx="2050633" cy="352044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83321" y="2313432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83321" y="2770632"/>
            <a:ext cx="1721449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Comfort prototype ordered, DEKRA CE quote requested.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04408" y="1764792"/>
            <a:ext cx="182880" cy="182880"/>
          </a:xfrm>
          <a:prstGeom prst="ellipse">
            <a:avLst/>
          </a:prstGeom>
          <a:solidFill>
            <a:srgbClr val="B8760A"/>
          </a:solidFill>
          <a:ln w="25400">
            <a:solidFill>
              <a:srgbClr val="F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7288" y="1856232"/>
            <a:ext cx="2068921" cy="0"/>
          </a:xfrm>
          <a:prstGeom prst="line">
            <a:avLst/>
          </a:prstGeom>
          <a:noFill/>
          <a:ln w="19050">
            <a:solidFill>
              <a:srgbClr val="DCE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0531" y="2148840"/>
            <a:ext cx="2050633" cy="352044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35123" y="2313432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5123" y="2770632"/>
            <a:ext cx="1721449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launches — direct channels: Bol.com, Amazon, own site.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56209" y="1764792"/>
            <a:ext cx="182880" cy="182880"/>
          </a:xfrm>
          <a:prstGeom prst="ellipse">
            <a:avLst/>
          </a:prstGeom>
          <a:solidFill>
            <a:srgbClr val="1A6B8A"/>
          </a:solidFill>
          <a:ln w="25400">
            <a:solidFill>
              <a:srgbClr val="F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39089" y="1856232"/>
            <a:ext cx="2068921" cy="0"/>
          </a:xfrm>
          <a:prstGeom prst="line">
            <a:avLst/>
          </a:prstGeom>
          <a:noFill/>
          <a:ln w="19050">
            <a:solidFill>
              <a:srgbClr val="DCE6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22332" y="2148840"/>
            <a:ext cx="2050633" cy="352044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86924" y="2313432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Y1–2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6924" y="2770632"/>
            <a:ext cx="1721449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launches. Retail partner outreach begins (ConnaBride, Action).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08010" y="1764792"/>
            <a:ext cx="182880" cy="182880"/>
          </a:xfrm>
          <a:prstGeom prst="ellipse">
            <a:avLst/>
          </a:prstGeom>
          <a:solidFill>
            <a:srgbClr val="1A6B8A"/>
          </a:solidFill>
          <a:ln w="25400">
            <a:solidFill>
              <a:srgbClr val="F3F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4134" y="2148840"/>
            <a:ext cx="2050633" cy="3520440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38726" y="2313432"/>
            <a:ext cx="1721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Y2–3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38726" y="2770632"/>
            <a:ext cx="1721449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launches — the flagship, once hot-water certification clears.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2, 40,000 units — the channel decision.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8745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A2E4A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41248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 — recommended mix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006840" y="3520440"/>
            <a:ext cx="187452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channels for margin. Retail partners for volume and brand exposure. The mix trades some revenue for a margin partners alone can't deliver.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at just 228 Comfort units.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from you, as we move to prototype.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86000"/>
            <a:ext cx="658368" cy="579364"/>
          </a:xfrm>
          <a:prstGeom prst="hexagon">
            <a:avLst/>
          </a:prstGeom>
          <a:solidFill>
            <a:srgbClr val="EAF1F0"/>
          </a:solidFill>
          <a:ln/>
        </p:spPr>
      </p:sp>
      <p:pic>
        <p:nvPicPr>
          <p:cNvPr id="6" name="Image 0" descr="/tmp/claude-0/-home-user-market-forecast-app/a258a7f7-d198-5159-8738-6f7076765cde/scratchpad/pptxgen/icons/award_1A6B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556" y="233208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31089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Delft network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6968" y="370332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access to the student project network for CAD drawings and first prototyping — the same relationship that's already opened the door to Yes!Delft.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2286000"/>
            <a:ext cx="658368" cy="579364"/>
          </a:xfrm>
          <a:prstGeom prst="hexagon">
            <a:avLst/>
          </a:prstGeom>
          <a:solidFill>
            <a:srgbClr val="EAF1F0"/>
          </a:solidFill>
          <a:ln/>
        </p:spPr>
      </p:sp>
      <p:pic>
        <p:nvPicPr>
          <p:cNvPr id="11" name="Image 1" descr="/tmp/claude-0/-home-user-market-forecast-app/a258a7f7-d198-5159-8738-6f7076765cde/scratchpad/pptxgen/icons/users_1A6B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164" y="2332086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31089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commercialisation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370332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lead on how HydroWarm looks and sounds as it goes to market — the expertise the NDA and Collaboration Agreement already recognise.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  <a:effectLst>
            <a:outerShdw sx="100000" sy="100000" kx="0" ky="0" algn="bl" rotWithShape="0" blurRad="76200" dist="25400" dir="5400000">
              <a:srgbClr val="1A2E4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286000"/>
            <a:ext cx="658368" cy="579364"/>
          </a:xfrm>
          <a:prstGeom prst="hexagon">
            <a:avLst/>
          </a:prstGeom>
          <a:solidFill>
            <a:srgbClr val="EAF1F0"/>
          </a:solidFill>
          <a:ln/>
        </p:spPr>
      </p:sp>
      <p:pic>
        <p:nvPicPr>
          <p:cNvPr id="16" name="Image 2" descr="/tmp/claude-0/-home-user-market-forecast-app/a258a7f7-d198-5159-8738-6f7076765cde/scratchpad/pptxgen/icons/trending_1A6B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72" y="233208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31089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conviction on sequencing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370332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first, then Charge, then Boot. It's a longer road to the original idea, but the right order to actually get there.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6928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longer conversation, not a slide — happy to go through the terms in the Collaboration Agreement in as much detail as you want.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Warm the person. Not the room.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5D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week, together.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F3548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148840"/>
            <a:ext cx="658368" cy="579364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6" name="Image 0" descr="/tmp/claude-0/-home-user-market-forecast-app/a258a7f7-d198-5159-8738-6f7076765cde/scratchpad/pptxgen/icons/check_B876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556" y="219492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Patent 1 &amp;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6968" y="35204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Arch-Hex Grid + PCM Cartridge, at mijn.rvo.nl. The single most urgent item — everything else is blocked on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F3548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08576" y="2148840"/>
            <a:ext cx="658368" cy="579364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11" name="Image 1" descr="/tmp/claude-0/-home-user-market-forecast-app/a258a7f7-d198-5159-8738-6f7076765cde/scratchpad/pptxgen/icons/check_B876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164" y="2194926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KVK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35204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at kvk.nl. Unlocks the Qredits loan, Bol.com selling, and every supplier contract.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F3548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2148840"/>
            <a:ext cx="658368" cy="579364"/>
          </a:xfrm>
          <a:prstGeom prst="hexagon">
            <a:avLst/>
          </a:prstGeom>
          <a:solidFill>
            <a:srgbClr val="223B54"/>
          </a:solidFill>
          <a:ln/>
        </p:spPr>
      </p:sp>
      <p:pic>
        <p:nvPicPr>
          <p:cNvPr id="16" name="Image 2" descr="/tmp/claude-0/-home-user-market-forecast-app/a258a7f7-d198-5159-8738-6f7076765cde/scratchpad/pptxgen/icons/check_B8760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72" y="219492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for Qredits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35204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€10,000 microloan — covers the first prototype and CE certification.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6928" y="5120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the person. </a:t>
            </a:r>
            <a:pPr indent="0" marL="0">
              <a:buNone/>
            </a:pPr>
            <a:r>
              <a:rPr lang="en-US" sz="2200" b="1" dirty="0">
                <a:solidFill>
                  <a:srgbClr val="B8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room.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566928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HydroWarm  ·  hello@hydrowarm.nl  ·  Lekkerkerk, Netherlands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2026-07-25T15:49:43Z</dcterms:created>
  <dcterms:modified xsi:type="dcterms:W3CDTF">2026-07-25T15:49:43Z</dcterms:modified>
</cp:coreProperties>
</file>